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5255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8216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4544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2340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987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2675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9885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26624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1293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7229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9262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9563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1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80082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12785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186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8E3F8-832C-4306-8DE5-B1BE1DD39CAC}" type="datetimeFigureOut">
              <a:rPr lang="bg-BG" smtClean="0"/>
              <a:t>12.2.2026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36353D3-8610-4E67-B519-2C11C0547C1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8544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laneta42.com/it/htmltagspuzzle/bg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64234"/>
            <a:ext cx="7479323" cy="6393766"/>
          </a:xfrm>
        </p:spPr>
        <p:txBody>
          <a:bodyPr>
            <a:normAutofit/>
          </a:bodyPr>
          <a:lstStyle/>
          <a:p>
            <a:r>
              <a:rPr lang="ru-RU" b="1" i="1" dirty="0"/>
              <a:t>Специализирани софтуерни средства за създаване на уеб сайт</a:t>
            </a:r>
            <a:br>
              <a:rPr lang="ru-RU" b="1" i="1" dirty="0"/>
            </a:br>
            <a:endParaRPr lang="bg-BG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4526" y="899670"/>
            <a:ext cx="7766936" cy="1096899"/>
          </a:xfrm>
        </p:spPr>
        <p:txBody>
          <a:bodyPr>
            <a:normAutofit/>
          </a:bodyPr>
          <a:lstStyle/>
          <a:p>
            <a:pPr algn="r"/>
            <a:r>
              <a:rPr lang="bg-BG" sz="3200" dirty="0" smtClean="0"/>
              <a:t>8 клас</a:t>
            </a: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3799422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1. Уебсайт -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Autofit/>
          </a:bodyPr>
          <a:lstStyle/>
          <a:p>
            <a:pPr fontAlgn="base"/>
            <a:r>
              <a:rPr lang="bg-BG" sz="2400" b="1" u="sng" dirty="0"/>
              <a:t>Уеб сайтът</a:t>
            </a:r>
            <a:r>
              <a:rPr lang="bg-BG" sz="2400" b="1" i="1" dirty="0"/>
              <a:t> </a:t>
            </a:r>
            <a:r>
              <a:rPr lang="bg-BG" sz="2400" i="1" dirty="0"/>
              <a:t>е </a:t>
            </a:r>
            <a:r>
              <a:rPr lang="bg-BG" sz="2400" b="1" i="1" dirty="0"/>
              <a:t>група от свързани уеб страници, които имат общ адрес в интернет </a:t>
            </a:r>
            <a:r>
              <a:rPr lang="bg-BG" sz="2400" i="1" dirty="0"/>
              <a:t>(</a:t>
            </a:r>
            <a:r>
              <a:rPr lang="en-US" sz="2400" i="1" dirty="0"/>
              <a:t>URL </a:t>
            </a:r>
            <a:r>
              <a:rPr lang="bg-BG" sz="2400" i="1" dirty="0"/>
              <a:t>адрес –</a:t>
            </a:r>
            <a:r>
              <a:rPr lang="en-US" sz="2400" i="1" dirty="0"/>
              <a:t>Uniform Resource Locator).</a:t>
            </a:r>
          </a:p>
          <a:p>
            <a:pPr fontAlgn="base"/>
            <a:r>
              <a:rPr lang="bg-BG" sz="2400" b="1" i="1" dirty="0"/>
              <a:t>За разглеждането на тези сайтове се използват програми наречени уеб браузъри (</a:t>
            </a:r>
            <a:r>
              <a:rPr lang="en-US" sz="2400" b="1" i="1" dirty="0"/>
              <a:t>Web Browsers).</a:t>
            </a:r>
            <a:endParaRPr lang="en-US" sz="2400" i="1" dirty="0"/>
          </a:p>
          <a:p>
            <a:pPr fontAlgn="base"/>
            <a:r>
              <a:rPr lang="ru-RU" sz="2400" i="1" dirty="0"/>
              <a:t>Сайтовете се съхраняват под формата на файлове. </a:t>
            </a:r>
            <a:endParaRPr lang="ru-RU" sz="2400" i="1" dirty="0" smtClean="0"/>
          </a:p>
          <a:p>
            <a:pPr fontAlgn="base"/>
            <a:r>
              <a:rPr lang="ru-RU" sz="2400" b="1" i="1" dirty="0" smtClean="0"/>
              <a:t>Чрез </a:t>
            </a:r>
            <a:r>
              <a:rPr lang="ru-RU" sz="2400" b="1" i="1" dirty="0"/>
              <a:t>хипервръзка от началната страница се отива в другите страници на сайта.</a:t>
            </a:r>
          </a:p>
          <a:p>
            <a:pPr fontAlgn="base"/>
            <a:r>
              <a:rPr lang="ru-RU" sz="2400" i="1" dirty="0"/>
              <a:t>Съществува огромно многообразие от сайтове, в зависимост от предназначението им – блогове, електронни магазини, новинарски сайтове.</a:t>
            </a:r>
          </a:p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3962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2. Видове убсайтове - </a:t>
            </a:r>
            <a:r>
              <a:rPr lang="bg-BG" dirty="0"/>
              <a:t>статични и </a:t>
            </a:r>
            <a:r>
              <a:rPr lang="bg-BG" dirty="0" smtClean="0"/>
              <a:t>динамични: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bg-BG" sz="2800" b="1" dirty="0" smtClean="0"/>
              <a:t>А</a:t>
            </a:r>
            <a:r>
              <a:rPr lang="bg-BG" sz="2800" b="1" u="sng" dirty="0" smtClean="0"/>
              <a:t>) статичен уебсайт </a:t>
            </a:r>
          </a:p>
          <a:p>
            <a:pPr marL="0" indent="0" fontAlgn="base">
              <a:buNone/>
            </a:pPr>
            <a:r>
              <a:rPr lang="bg-BG" dirty="0" smtClean="0"/>
              <a:t>- </a:t>
            </a:r>
            <a:r>
              <a:rPr lang="ru-RU" sz="2400" i="1" dirty="0" smtClean="0"/>
              <a:t>винаги </a:t>
            </a:r>
            <a:r>
              <a:rPr lang="ru-RU" sz="2400" i="1" dirty="0"/>
              <a:t>имат еднo и същo </a:t>
            </a:r>
            <a:r>
              <a:rPr lang="ru-RU" sz="2400" i="1" dirty="0" smtClean="0">
                <a:solidFill>
                  <a:srgbClr val="FF0000"/>
                </a:solidFill>
              </a:rPr>
              <a:t>съдържани</a:t>
            </a:r>
            <a:r>
              <a:rPr lang="en-US" sz="2400" i="1" dirty="0" smtClean="0">
                <a:solidFill>
                  <a:srgbClr val="FF0000"/>
                </a:solidFill>
              </a:rPr>
              <a:t>e, </a:t>
            </a:r>
            <a:r>
              <a:rPr lang="bg-BG" sz="2400" i="1" dirty="0" smtClean="0">
                <a:solidFill>
                  <a:srgbClr val="FF0000"/>
                </a:solidFill>
              </a:rPr>
              <a:t>то може да се променя само от създателя на сайта</a:t>
            </a:r>
            <a:endParaRPr lang="ru-RU" sz="2400" i="1" dirty="0">
              <a:solidFill>
                <a:srgbClr val="FF0000"/>
              </a:solidFill>
            </a:endParaRPr>
          </a:p>
          <a:p>
            <a:pPr marL="0" indent="0" fontAlgn="base">
              <a:buNone/>
            </a:pPr>
            <a:r>
              <a:rPr lang="ru-RU" sz="2400" i="1" dirty="0"/>
              <a:t>– визията и </a:t>
            </a:r>
            <a:r>
              <a:rPr lang="ru-RU" sz="2400" i="1" dirty="0">
                <a:solidFill>
                  <a:srgbClr val="FF0000"/>
                </a:solidFill>
              </a:rPr>
              <a:t>структурата им е изцяло на </a:t>
            </a:r>
            <a:r>
              <a:rPr lang="ru-RU" sz="2400" i="1" dirty="0" smtClean="0">
                <a:solidFill>
                  <a:srgbClr val="FF0000"/>
                </a:solidFill>
              </a:rPr>
              <a:t>HTML</a:t>
            </a:r>
            <a:r>
              <a:rPr lang="en-US" sz="2400" i="1" dirty="0" smtClean="0">
                <a:solidFill>
                  <a:srgbClr val="FF0000"/>
                </a:solidFill>
              </a:rPr>
              <a:t> </a:t>
            </a:r>
            <a:r>
              <a:rPr lang="ru-RU" sz="2400" i="1" dirty="0">
                <a:solidFill>
                  <a:srgbClr val="FF0000"/>
                </a:solidFill>
              </a:rPr>
              <a:t>и</a:t>
            </a:r>
            <a:r>
              <a:rPr lang="bg-BG" sz="2400" i="1" dirty="0" smtClean="0">
                <a:solidFill>
                  <a:srgbClr val="FF0000"/>
                </a:solidFill>
              </a:rPr>
              <a:t> </a:t>
            </a:r>
            <a:r>
              <a:rPr lang="en-US" sz="2400" i="1" dirty="0" smtClean="0">
                <a:solidFill>
                  <a:srgbClr val="FF0000"/>
                </a:solidFill>
              </a:rPr>
              <a:t>CSS</a:t>
            </a:r>
            <a:endParaRPr lang="ru-RU" sz="2400" i="1" dirty="0">
              <a:solidFill>
                <a:srgbClr val="FF0000"/>
              </a:solidFill>
            </a:endParaRPr>
          </a:p>
          <a:p>
            <a:pPr marL="0" indent="0" fontAlgn="base">
              <a:buNone/>
            </a:pPr>
            <a:r>
              <a:rPr lang="ru-RU" sz="2400" i="1" dirty="0"/>
              <a:t>– използват се, когато съдържанието в страниците не се нуждае от периодично </a:t>
            </a:r>
            <a:r>
              <a:rPr lang="ru-RU" sz="2400" i="1" dirty="0" smtClean="0"/>
              <a:t>обновяване</a:t>
            </a:r>
          </a:p>
          <a:p>
            <a:pPr marL="0" indent="0" fontAlgn="base">
              <a:buNone/>
            </a:pPr>
            <a:r>
              <a:rPr lang="ru-RU" sz="2400" i="1" dirty="0" smtClean="0"/>
              <a:t>- </a:t>
            </a:r>
            <a:r>
              <a:rPr lang="ru-RU" sz="2400" i="1" dirty="0" smtClean="0">
                <a:solidFill>
                  <a:srgbClr val="FF0000"/>
                </a:solidFill>
              </a:rPr>
              <a:t>заглавната им страница е </a:t>
            </a:r>
            <a:r>
              <a:rPr lang="en-US" sz="2400" i="1" dirty="0" smtClean="0">
                <a:solidFill>
                  <a:srgbClr val="FF0000"/>
                </a:solidFill>
              </a:rPr>
              <a:t>index.html</a:t>
            </a:r>
            <a:endParaRPr lang="ru-RU" sz="2400" i="1" dirty="0">
              <a:solidFill>
                <a:srgbClr val="FF0000"/>
              </a:solidFill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6983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 Видове убсайтове - статични и динамични: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bg-BG" sz="2400" b="1" dirty="0" smtClean="0"/>
              <a:t>Б) </a:t>
            </a:r>
            <a:r>
              <a:rPr lang="bg-BG" sz="2800" b="1" u="sng" dirty="0" smtClean="0"/>
              <a:t>динамичен уебсайт </a:t>
            </a:r>
          </a:p>
          <a:p>
            <a:pPr marL="0" indent="0" fontAlgn="base">
              <a:buNone/>
            </a:pPr>
            <a:r>
              <a:rPr lang="bg-BG" sz="2400" dirty="0" smtClean="0"/>
              <a:t>- </a:t>
            </a:r>
            <a:r>
              <a:rPr lang="ru-RU" sz="2400" i="1" dirty="0" smtClean="0"/>
              <a:t>Съдържанието </a:t>
            </a:r>
            <a:r>
              <a:rPr lang="ru-RU" sz="2400" i="1" dirty="0"/>
              <a:t>им се генерира динамично</a:t>
            </a:r>
          </a:p>
          <a:p>
            <a:pPr marL="0" indent="0" fontAlgn="base">
              <a:buNone/>
            </a:pPr>
            <a:r>
              <a:rPr lang="ru-RU" sz="2400" i="1" dirty="0" smtClean="0"/>
              <a:t>- При </a:t>
            </a:r>
            <a:r>
              <a:rPr lang="ru-RU" sz="2400" i="1" dirty="0"/>
              <a:t>поискване на дадена страница от сървъра съдържанието </a:t>
            </a:r>
            <a:r>
              <a:rPr lang="ru-RU" sz="2400" i="1" dirty="0" smtClean="0"/>
              <a:t>й </a:t>
            </a:r>
            <a:r>
              <a:rPr lang="ru-RU" sz="2400" i="1" dirty="0"/>
              <a:t>може да е </a:t>
            </a:r>
            <a:r>
              <a:rPr lang="ru-RU" sz="2400" i="1" dirty="0" smtClean="0"/>
              <a:t>различно – например – </a:t>
            </a:r>
            <a:r>
              <a:rPr lang="en-US" sz="2400" i="1" dirty="0" err="1" smtClean="0"/>
              <a:t>facebook</a:t>
            </a:r>
            <a:r>
              <a:rPr lang="en-US" sz="2400" i="1" dirty="0" smtClean="0"/>
              <a:t>, Instagram </a:t>
            </a:r>
            <a:endParaRPr lang="ru-RU" sz="2400" i="1" dirty="0"/>
          </a:p>
          <a:p>
            <a:pPr marL="0" indent="0">
              <a:buNone/>
            </a:pPr>
            <a:r>
              <a:rPr lang="bg-BG" sz="2400" i="1" dirty="0" smtClean="0"/>
              <a:t> </a:t>
            </a:r>
            <a:endParaRPr lang="bg-BG" sz="2400" i="1" dirty="0"/>
          </a:p>
        </p:txBody>
      </p:sp>
    </p:spTree>
    <p:extLst>
      <p:ext uri="{BB962C8B-B14F-4D97-AF65-F5344CB8AC3E}">
        <p14:creationId xmlns:p14="http://schemas.microsoft.com/office/powerpoint/2010/main" val="306513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ru-RU" dirty="0" smtClean="0"/>
              <a:t>. </a:t>
            </a:r>
            <a:r>
              <a:rPr lang="ru-RU" dirty="0"/>
              <a:t>Популярни редактори и средства за разработка на уеб сайтове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57268"/>
            <a:ext cx="8946541" cy="3491131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A</a:t>
            </a:r>
            <a:r>
              <a:rPr lang="en-US" sz="2800" b="1" dirty="0" smtClean="0"/>
              <a:t>) </a:t>
            </a:r>
            <a:r>
              <a:rPr lang="bg-BG" sz="2800" b="1" dirty="0" smtClean="0"/>
              <a:t>чрез езика </a:t>
            </a:r>
            <a:r>
              <a:rPr lang="en-US" sz="2800" b="1" dirty="0" smtClean="0"/>
              <a:t>HTML</a:t>
            </a:r>
            <a:r>
              <a:rPr lang="bg-BG" sz="2800" b="1" dirty="0" smtClean="0"/>
              <a:t>;</a:t>
            </a:r>
            <a:endParaRPr lang="en-US" sz="2800" b="1" dirty="0" smtClean="0"/>
          </a:p>
          <a:p>
            <a:r>
              <a:rPr lang="bg-BG" sz="2800" b="1" dirty="0" smtClean="0"/>
              <a:t>Б) чрез специализиран език за програмиране;</a:t>
            </a:r>
          </a:p>
          <a:p>
            <a:r>
              <a:rPr lang="bg-BG" sz="2800" b="1" dirty="0" smtClean="0"/>
              <a:t>В) онлайн</a:t>
            </a:r>
            <a:endParaRPr lang="bg-BG" sz="2800" b="1" dirty="0"/>
          </a:p>
        </p:txBody>
      </p:sp>
    </p:spTree>
    <p:extLst>
      <p:ext uri="{BB962C8B-B14F-4D97-AF65-F5344CB8AC3E}">
        <p14:creationId xmlns:p14="http://schemas.microsoft.com/office/powerpoint/2010/main" val="56748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4. </a:t>
            </a:r>
            <a:r>
              <a:rPr lang="bg-BG" dirty="0"/>
              <a:t>Предназначение на езика </a:t>
            </a:r>
            <a:r>
              <a:rPr lang="en-US" dirty="0"/>
              <a:t>HTML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ru-RU" sz="2800" dirty="0"/>
              <a:t>HTML (Hyper Text Markup Language) е стандартен език за създаване на уеб страници.</a:t>
            </a:r>
          </a:p>
          <a:p>
            <a:pPr fontAlgn="base"/>
            <a:r>
              <a:rPr lang="ru-RU" sz="2800" dirty="0"/>
              <a:t>Основните елементи на езика се наричат тагове.</a:t>
            </a:r>
          </a:p>
          <a:p>
            <a:pPr fontAlgn="base"/>
            <a:r>
              <a:rPr lang="ru-RU" sz="2800" b="1" dirty="0"/>
              <a:t>Таговете</a:t>
            </a:r>
            <a:r>
              <a:rPr lang="ru-RU" sz="2800" dirty="0"/>
              <a:t> са ключови думи, заградени в ъглови скоби.</a:t>
            </a:r>
          </a:p>
          <a:p>
            <a:pPr fontAlgn="base"/>
            <a:r>
              <a:rPr lang="bg-BG" sz="2800" dirty="0" smtClean="0"/>
              <a:t>За </a:t>
            </a:r>
            <a:r>
              <a:rPr lang="bg-BG" sz="2800" dirty="0"/>
              <a:t>писане на код чрез </a:t>
            </a:r>
            <a:r>
              <a:rPr lang="en-US" sz="2800" dirty="0"/>
              <a:t>HTML </a:t>
            </a:r>
            <a:r>
              <a:rPr lang="bg-BG" sz="2800" dirty="0"/>
              <a:t>е достатъчен обикновен текстов редактор.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5099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sz="2800" dirty="0"/>
              <a:t>Всеки HTML документ започва с отварящ таг &lt;html&gt; и затварящ таг &lt;/html&gt;.</a:t>
            </a:r>
          </a:p>
          <a:p>
            <a:pPr fontAlgn="base"/>
            <a:r>
              <a:rPr lang="ru-RU" sz="2800" dirty="0"/>
              <a:t>При съхраняване на HTML документът се задава разширение на </a:t>
            </a:r>
            <a:r>
              <a:rPr lang="ru-RU" sz="2800" dirty="0" smtClean="0"/>
              <a:t>файла -  </a:t>
            </a:r>
            <a:r>
              <a:rPr lang="ru-RU" sz="2800" dirty="0"/>
              <a:t>. </a:t>
            </a:r>
            <a:r>
              <a:rPr lang="ru-RU" sz="2800" dirty="0" smtClean="0"/>
              <a:t>html</a:t>
            </a:r>
            <a:endParaRPr lang="ru-RU" sz="2800" dirty="0"/>
          </a:p>
          <a:p>
            <a:r>
              <a:rPr lang="ru-RU" sz="2800" dirty="0" smtClean="0"/>
              <a:t>Чрез</a:t>
            </a:r>
            <a:r>
              <a:rPr lang="ru-RU" sz="2800" dirty="0"/>
              <a:t> </a:t>
            </a:r>
            <a:r>
              <a:rPr lang="ru-RU" sz="2800" b="1" dirty="0"/>
              <a:t>CSS (Cascading Style </a:t>
            </a:r>
            <a:r>
              <a:rPr lang="ru-RU" sz="2800" b="1" dirty="0" smtClean="0"/>
              <a:t>Sheets)</a:t>
            </a:r>
            <a:r>
              <a:rPr lang="ru-RU" sz="2800" dirty="0"/>
              <a:t> </a:t>
            </a:r>
            <a:r>
              <a:rPr lang="ru-RU" sz="2800" dirty="0" smtClean="0"/>
              <a:t>се определя визуалното </a:t>
            </a:r>
            <a:r>
              <a:rPr lang="ru-RU" sz="2800" dirty="0"/>
              <a:t>представяне на текста 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95804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88277"/>
            <a:ext cx="8596668" cy="525308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400" dirty="0" smtClean="0"/>
              <a:t>Основната </a:t>
            </a:r>
            <a:r>
              <a:rPr lang="ru-RU" sz="2400" dirty="0"/>
              <a:t>структура на </a:t>
            </a:r>
            <a:r>
              <a:rPr lang="ru-RU" sz="2400" b="1" dirty="0"/>
              <a:t>HTML </a:t>
            </a:r>
            <a:r>
              <a:rPr lang="ru-RU" sz="2400" dirty="0"/>
              <a:t>документ се състои от следните тагове:</a:t>
            </a:r>
          </a:p>
          <a:p>
            <a:pPr marL="0" indent="0" fontAlgn="base">
              <a:buNone/>
            </a:pPr>
            <a:r>
              <a:rPr lang="ru-RU" sz="2400" dirty="0">
                <a:solidFill>
                  <a:srgbClr val="FF0000"/>
                </a:solidFill>
              </a:rPr>
              <a:t>&lt;html&gt;</a:t>
            </a:r>
          </a:p>
          <a:p>
            <a:pPr marL="0" indent="0" fontAlgn="base">
              <a:buNone/>
            </a:pPr>
            <a:r>
              <a:rPr lang="ru-RU" sz="2400" dirty="0">
                <a:solidFill>
                  <a:srgbClr val="FF0000"/>
                </a:solidFill>
              </a:rPr>
              <a:t>&lt;head&gt;</a:t>
            </a:r>
          </a:p>
          <a:p>
            <a:pPr marL="0" indent="0" fontAlgn="base">
              <a:buNone/>
            </a:pPr>
            <a:r>
              <a:rPr lang="ru-RU" sz="2400" dirty="0">
                <a:solidFill>
                  <a:srgbClr val="FF0000"/>
                </a:solidFill>
              </a:rPr>
              <a:t>&lt;title&gt; наименование на </a:t>
            </a:r>
            <a:r>
              <a:rPr lang="ru-RU" sz="2400" dirty="0" smtClean="0">
                <a:solidFill>
                  <a:srgbClr val="FF0000"/>
                </a:solidFill>
              </a:rPr>
              <a:t>страницата &lt;/</a:t>
            </a:r>
            <a:r>
              <a:rPr lang="ru-RU" sz="2400" dirty="0">
                <a:solidFill>
                  <a:srgbClr val="FF0000"/>
                </a:solidFill>
              </a:rPr>
              <a:t>title&gt;</a:t>
            </a:r>
          </a:p>
          <a:p>
            <a:pPr marL="0" indent="0" fontAlgn="base">
              <a:buNone/>
            </a:pPr>
            <a:r>
              <a:rPr lang="ru-RU" sz="2400" dirty="0">
                <a:solidFill>
                  <a:srgbClr val="FF0000"/>
                </a:solidFill>
              </a:rPr>
              <a:t>&lt;/head&gt;</a:t>
            </a:r>
          </a:p>
          <a:p>
            <a:pPr marL="0" indent="0" fontAlgn="base">
              <a:buNone/>
            </a:pPr>
            <a:r>
              <a:rPr lang="ru-RU" sz="2400" dirty="0">
                <a:solidFill>
                  <a:srgbClr val="FF0000"/>
                </a:solidFill>
              </a:rPr>
              <a:t>&lt;body&gt;</a:t>
            </a:r>
          </a:p>
          <a:p>
            <a:pPr marL="0" indent="0" fontAlgn="base">
              <a:buNone/>
            </a:pPr>
            <a:r>
              <a:rPr lang="ru-RU" sz="2400" i="1" dirty="0">
                <a:solidFill>
                  <a:srgbClr val="FF0000"/>
                </a:solidFill>
              </a:rPr>
              <a:t>Тяло на </a:t>
            </a:r>
            <a:r>
              <a:rPr lang="ru-RU" sz="2400" i="1" dirty="0" smtClean="0">
                <a:solidFill>
                  <a:srgbClr val="FF0000"/>
                </a:solidFill>
              </a:rPr>
              <a:t>документа</a:t>
            </a:r>
            <a:r>
              <a:rPr lang="en-US" sz="2400" i="1" dirty="0" smtClean="0">
                <a:solidFill>
                  <a:srgbClr val="FF0000"/>
                </a:solidFill>
              </a:rPr>
              <a:t>: </a:t>
            </a:r>
            <a:endParaRPr lang="ru-RU" sz="2400" i="1" dirty="0">
              <a:solidFill>
                <a:srgbClr val="FF0000"/>
              </a:solidFill>
            </a:endParaRPr>
          </a:p>
          <a:p>
            <a:pPr marL="0" indent="0" fontAlgn="base">
              <a:buNone/>
            </a:pPr>
            <a:r>
              <a:rPr lang="ru-RU" sz="2400" dirty="0">
                <a:solidFill>
                  <a:srgbClr val="FF0000"/>
                </a:solidFill>
              </a:rPr>
              <a:t>&lt;/body</a:t>
            </a:r>
            <a:r>
              <a:rPr lang="ru-RU" sz="2400" dirty="0" smtClean="0">
                <a:solidFill>
                  <a:srgbClr val="FF000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US" sz="2400" dirty="0">
                <a:solidFill>
                  <a:srgbClr val="FF0000"/>
                </a:solidFill>
              </a:rPr>
              <a:t>&lt;/html&gt;</a:t>
            </a:r>
            <a:endParaRPr lang="ru-RU" sz="2400" dirty="0">
              <a:solidFill>
                <a:srgbClr val="FF0000"/>
              </a:solidFill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6883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Задача: Поставете таговете на правилното място, за да получите работеща програма.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planeta42.com/it/htmltagspuzzle/bg.html</a:t>
            </a:r>
            <a:endParaRPr lang="en-US" dirty="0" smtClean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168927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228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Специализирани софтуерни средства за създаване на уеб сайт </vt:lpstr>
      <vt:lpstr>1. Уебсайт - </vt:lpstr>
      <vt:lpstr>2. Видове убсайтове - статични и динамични:</vt:lpstr>
      <vt:lpstr>2. Видове убсайтове - статични и динамични:</vt:lpstr>
      <vt:lpstr>3. Популярни редактори и средства за разработка на уеб сайтове</vt:lpstr>
      <vt:lpstr>4. Предназначение на езика HTML</vt:lpstr>
      <vt:lpstr>PowerPoint Presentation</vt:lpstr>
      <vt:lpstr>PowerPoint Presentation</vt:lpstr>
      <vt:lpstr>Задача: Поставете таговете на правилното място, за да получите работеща програма.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Специализирани софтуерни средства за създаване на уеб сайт </dc:title>
  <dc:creator>Administrator</dc:creator>
  <cp:lastModifiedBy>Administrator</cp:lastModifiedBy>
  <cp:revision>56</cp:revision>
  <dcterms:created xsi:type="dcterms:W3CDTF">2026-01-30T06:30:02Z</dcterms:created>
  <dcterms:modified xsi:type="dcterms:W3CDTF">2026-02-12T07:48:31Z</dcterms:modified>
</cp:coreProperties>
</file>