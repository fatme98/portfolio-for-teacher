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1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5266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3040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48436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9280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31642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298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620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5195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4932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4132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83244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1707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55136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632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42930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7685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9286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BE04011-47E2-49D7-8C9A-CAAC46468B40}" type="datetimeFigureOut">
              <a:rPr lang="bg-BG" smtClean="0"/>
              <a:t>8.1.2026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0F2BE-E632-4948-B349-5A77B8A7404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57680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Информация и услуги за гражданите в интернет. Електронна търговия и електронни разплащания</a:t>
            </a:r>
            <a:endParaRPr lang="bg-BG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bg-BG" sz="3600" b="1" dirty="0" smtClean="0"/>
              <a:t>9 клас</a:t>
            </a:r>
            <a:endParaRPr lang="bg-BG" sz="3600" b="1" dirty="0"/>
          </a:p>
        </p:txBody>
      </p:sp>
    </p:spTree>
    <p:extLst>
      <p:ext uri="{BB962C8B-B14F-4D97-AF65-F5344CB8AC3E}">
        <p14:creationId xmlns:p14="http://schemas.microsoft.com/office/powerpoint/2010/main" val="423300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1. Информация </a:t>
            </a:r>
            <a:r>
              <a:rPr lang="ru-RU" b="1" dirty="0"/>
              <a:t>и услуги за гражданите в интернет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6733" y="2115980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smtClean="0">
                <a:solidFill>
                  <a:schemeClr val="bg1"/>
                </a:solidFill>
              </a:rPr>
              <a:t>А) Електронно управление </a:t>
            </a:r>
            <a:r>
              <a:rPr lang="ru-RU" sz="2400" b="1" dirty="0" smtClean="0"/>
              <a:t>- </a:t>
            </a:r>
            <a:r>
              <a:rPr lang="ru-RU" sz="2400" dirty="0"/>
              <a:t> </a:t>
            </a:r>
            <a:r>
              <a:rPr lang="ru-RU" sz="2400" b="1" dirty="0">
                <a:solidFill>
                  <a:schemeClr val="bg1"/>
                </a:solidFill>
              </a:rPr>
              <a:t>се нарича използването на информационни </a:t>
            </a:r>
            <a:r>
              <a:rPr lang="ru-RU" sz="2400" dirty="0"/>
              <a:t>и комуникационни </a:t>
            </a:r>
            <a:r>
              <a:rPr lang="ru-RU" sz="2400" b="1" dirty="0">
                <a:solidFill>
                  <a:schemeClr val="bg1"/>
                </a:solidFill>
              </a:rPr>
              <a:t>технологии</a:t>
            </a:r>
            <a:r>
              <a:rPr lang="ru-RU" sz="2400" dirty="0"/>
              <a:t> (ИКТ) </a:t>
            </a:r>
            <a:r>
              <a:rPr lang="ru-RU" sz="2400" b="1" dirty="0">
                <a:solidFill>
                  <a:schemeClr val="bg1"/>
                </a:solidFill>
              </a:rPr>
              <a:t>от държавните органи за предоставяне на информация </a:t>
            </a:r>
            <a:r>
              <a:rPr lang="ru-RU" sz="2400" dirty="0"/>
              <a:t>и услуги на гражданите и бизнеса.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Електронното </a:t>
            </a:r>
            <a:r>
              <a:rPr lang="ru-RU" sz="2400" dirty="0"/>
              <a:t>управление е важен инструмент за модернизация на държавата и за подобряване на качеството на живот на гражданите.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71149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b="1" dirty="0" smtClean="0">
                <a:solidFill>
                  <a:schemeClr val="bg1"/>
                </a:solidFill>
              </a:rPr>
              <a:t>Б) </a:t>
            </a:r>
            <a:r>
              <a:rPr lang="ru-RU" sz="2400" b="1" dirty="0">
                <a:solidFill>
                  <a:schemeClr val="bg1"/>
                </a:solidFill>
              </a:rPr>
              <a:t>Електронни услуги</a:t>
            </a:r>
            <a:r>
              <a:rPr lang="ru-RU" sz="2400" dirty="0"/>
              <a:t> </a:t>
            </a:r>
            <a:r>
              <a:rPr lang="ru-RU" sz="2400" dirty="0" smtClean="0"/>
              <a:t>- </a:t>
            </a:r>
            <a:r>
              <a:rPr lang="ru-RU" sz="2400" b="1" dirty="0" smtClean="0">
                <a:solidFill>
                  <a:schemeClr val="bg1"/>
                </a:solidFill>
              </a:rPr>
              <a:t>са </a:t>
            </a:r>
            <a:r>
              <a:rPr lang="ru-RU" sz="2400" b="1" dirty="0">
                <a:solidFill>
                  <a:schemeClr val="bg1"/>
                </a:solidFill>
              </a:rPr>
              <a:t>услуги, предоставяни от държавните органи по електронен път</a:t>
            </a:r>
            <a:r>
              <a:rPr lang="ru-RU" sz="2400" dirty="0"/>
              <a:t>, например:</a:t>
            </a:r>
          </a:p>
          <a:p>
            <a:r>
              <a:rPr lang="ru-RU" sz="2400" dirty="0"/>
              <a:t>Заявяване на документи (лична карта, паспорт, шофьорска книжка)</a:t>
            </a:r>
          </a:p>
          <a:p>
            <a:r>
              <a:rPr lang="ru-RU" sz="2400" dirty="0"/>
              <a:t>Плащане на данъци и такси</a:t>
            </a:r>
          </a:p>
          <a:p>
            <a:r>
              <a:rPr lang="ru-RU" sz="2400" dirty="0"/>
              <a:t>Подаване на декларации</a:t>
            </a:r>
          </a:p>
          <a:p>
            <a:r>
              <a:rPr lang="ru-RU" sz="2400" dirty="0"/>
              <a:t>Записване за детска градина или училище</a:t>
            </a:r>
          </a:p>
          <a:p>
            <a:r>
              <a:rPr lang="ru-RU" sz="2400" dirty="0"/>
              <a:t>Кандидатстване за работа</a:t>
            </a:r>
          </a:p>
          <a:p>
            <a:r>
              <a:rPr lang="ru-RU" sz="2400" dirty="0"/>
              <a:t>Гласуване</a:t>
            </a:r>
          </a:p>
          <a:p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279652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516" y="2038851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ru-RU" sz="2600" b="1" dirty="0" smtClean="0">
                <a:solidFill>
                  <a:schemeClr val="bg1"/>
                </a:solidFill>
              </a:rPr>
              <a:t>В) </a:t>
            </a:r>
            <a:r>
              <a:rPr lang="ru-RU" sz="2400" b="1" dirty="0" smtClean="0">
                <a:solidFill>
                  <a:schemeClr val="bg1"/>
                </a:solidFill>
              </a:rPr>
              <a:t>Предимства </a:t>
            </a:r>
            <a:r>
              <a:rPr lang="ru-RU" sz="2400" b="1" dirty="0">
                <a:solidFill>
                  <a:schemeClr val="bg1"/>
                </a:solidFill>
              </a:rPr>
              <a:t>на електронните услуги:</a:t>
            </a:r>
          </a:p>
          <a:p>
            <a:r>
              <a:rPr lang="ru-RU" sz="2400" dirty="0"/>
              <a:t>Спестяват време и усилия</a:t>
            </a:r>
          </a:p>
          <a:p>
            <a:r>
              <a:rPr lang="ru-RU" sz="2400" dirty="0"/>
              <a:t>Намаляват разходите</a:t>
            </a:r>
          </a:p>
          <a:p>
            <a:r>
              <a:rPr lang="ru-RU" sz="2400" dirty="0"/>
              <a:t>Повишават прозрачността</a:t>
            </a:r>
          </a:p>
          <a:p>
            <a:r>
              <a:rPr lang="ru-RU" sz="2400" dirty="0"/>
              <a:t>Улесняват достъпа до информация и услуги</a:t>
            </a:r>
          </a:p>
          <a:p>
            <a:pPr marL="0" indent="0">
              <a:buNone/>
            </a:pPr>
            <a:r>
              <a:rPr lang="ru-RU" sz="2400" dirty="0"/>
              <a:t> </a:t>
            </a:r>
          </a:p>
          <a:p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47419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2. Електронна </a:t>
            </a:r>
            <a:r>
              <a:rPr lang="ru-RU" b="1" dirty="0"/>
              <a:t>търговия и електронни разплащания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bg-BG" sz="2800" b="1" dirty="0" smtClean="0">
                <a:solidFill>
                  <a:schemeClr val="bg1"/>
                </a:solidFill>
              </a:rPr>
              <a:t>А) Електронна търговия </a:t>
            </a:r>
            <a:r>
              <a:rPr lang="bg-BG" sz="2800" b="1" dirty="0" smtClean="0"/>
              <a:t>- </a:t>
            </a:r>
            <a:r>
              <a:rPr lang="ru-RU" sz="2800" i="1" dirty="0"/>
              <a:t>Електронна търговия (е-търговия) е процесът на покупко-продажба на стоки и услуги чрез интернет. Тя може да се осъществява по различни начини, включително</a:t>
            </a:r>
            <a:r>
              <a:rPr lang="ru-RU" sz="2800" i="1" dirty="0" smtClean="0"/>
              <a:t>:</a:t>
            </a:r>
          </a:p>
          <a:p>
            <a:r>
              <a:rPr lang="ru-RU" sz="2800" b="1" dirty="0">
                <a:solidFill>
                  <a:schemeClr val="bg1"/>
                </a:solidFill>
              </a:rPr>
              <a:t>Онлайн магазини</a:t>
            </a:r>
            <a:r>
              <a:rPr lang="ru-RU" sz="2800" dirty="0">
                <a:solidFill>
                  <a:schemeClr val="bg1"/>
                </a:solidFill>
              </a:rPr>
              <a:t>:</a:t>
            </a:r>
            <a:r>
              <a:rPr lang="ru-RU" sz="2800" i="1" dirty="0"/>
              <a:t> виртуални витрини, където клиентите могат да разглеждат, избират и купуват продукти.</a:t>
            </a:r>
          </a:p>
          <a:p>
            <a:r>
              <a:rPr lang="ru-RU" sz="2800" b="1" dirty="0">
                <a:solidFill>
                  <a:schemeClr val="bg1"/>
                </a:solidFill>
              </a:rPr>
              <a:t>Онлайн търгове</a:t>
            </a:r>
            <a:r>
              <a:rPr lang="ru-RU" sz="2800" dirty="0">
                <a:solidFill>
                  <a:schemeClr val="bg1"/>
                </a:solidFill>
              </a:rPr>
              <a:t>:</a:t>
            </a:r>
            <a:r>
              <a:rPr lang="ru-RU" sz="2800" dirty="0"/>
              <a:t> </a:t>
            </a:r>
            <a:r>
              <a:rPr lang="ru-RU" sz="2800" i="1" dirty="0"/>
              <a:t>платформи за наддаване на стоки и услуги.</a:t>
            </a:r>
          </a:p>
          <a:p>
            <a:r>
              <a:rPr lang="ru-RU" sz="2800" b="1" dirty="0">
                <a:solidFill>
                  <a:schemeClr val="bg1"/>
                </a:solidFill>
              </a:rPr>
              <a:t>Електронни пазари</a:t>
            </a:r>
            <a:r>
              <a:rPr lang="ru-RU" sz="2800" dirty="0">
                <a:solidFill>
                  <a:schemeClr val="bg1"/>
                </a:solidFill>
              </a:rPr>
              <a:t>:</a:t>
            </a:r>
            <a:r>
              <a:rPr lang="ru-RU" sz="2800" i="1" dirty="0"/>
              <a:t> места, където купувачи и продавачи могат да се срещнат и да сключват сделки.</a:t>
            </a:r>
          </a:p>
          <a:p>
            <a:r>
              <a:rPr lang="ru-RU" sz="2800" b="1" dirty="0">
                <a:solidFill>
                  <a:schemeClr val="bg1"/>
                </a:solidFill>
              </a:rPr>
              <a:t>Дигитално съдържание</a:t>
            </a:r>
            <a:r>
              <a:rPr lang="ru-RU" sz="2800" dirty="0">
                <a:solidFill>
                  <a:schemeClr val="bg1"/>
                </a:solidFill>
              </a:rPr>
              <a:t>: </a:t>
            </a:r>
            <a:r>
              <a:rPr lang="ru-RU" sz="2800" i="1" dirty="0"/>
              <a:t>електронни книги, музика, филми, игри и др.</a:t>
            </a:r>
          </a:p>
          <a:p>
            <a:pPr marL="0" indent="0">
              <a:buNone/>
            </a:pPr>
            <a:endParaRPr lang="bg-BG" i="1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0635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228" y="693684"/>
            <a:ext cx="9230045" cy="55074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bg-BG" sz="2800" b="1" dirty="0" smtClean="0">
                <a:solidFill>
                  <a:schemeClr val="bg1"/>
                </a:solidFill>
              </a:rPr>
              <a:t>Б) </a:t>
            </a:r>
            <a:r>
              <a:rPr lang="bg-BG" sz="3800" b="1" dirty="0" smtClean="0">
                <a:solidFill>
                  <a:schemeClr val="bg1"/>
                </a:solidFill>
              </a:rPr>
              <a:t>Електронни разплащания </a:t>
            </a:r>
            <a:r>
              <a:rPr lang="bg-BG" sz="3800" b="1" dirty="0" smtClean="0"/>
              <a:t>- </a:t>
            </a:r>
            <a:r>
              <a:rPr lang="ru-RU" sz="3800" dirty="0" smtClean="0"/>
              <a:t>Електронните </a:t>
            </a:r>
            <a:r>
              <a:rPr lang="ru-RU" sz="3800" dirty="0"/>
              <a:t>разплащания са система за плащане на стоки и услуги онлайн. Те могат да се извършват по различни начини, включително:</a:t>
            </a:r>
            <a:r>
              <a:rPr lang="bg-BG" sz="3800" b="1" dirty="0" smtClean="0"/>
              <a:t> </a:t>
            </a:r>
          </a:p>
          <a:p>
            <a:r>
              <a:rPr lang="ru-RU" sz="3800" b="1" dirty="0">
                <a:solidFill>
                  <a:schemeClr val="bg1"/>
                </a:solidFill>
              </a:rPr>
              <a:t>Платежни карти:</a:t>
            </a:r>
            <a:r>
              <a:rPr lang="ru-RU" sz="3800" dirty="0"/>
              <a:t> </a:t>
            </a:r>
            <a:r>
              <a:rPr lang="ru-RU" sz="3800" i="1" dirty="0"/>
              <a:t>кредитни, дебитни и предплатени карти - най-разпространеният метод за електронно разплащане.</a:t>
            </a:r>
          </a:p>
          <a:p>
            <a:r>
              <a:rPr lang="ru-RU" sz="3800" b="1" dirty="0">
                <a:solidFill>
                  <a:schemeClr val="bg1"/>
                </a:solidFill>
              </a:rPr>
              <a:t>Електронни портфейли</a:t>
            </a:r>
            <a:r>
              <a:rPr lang="ru-RU" sz="3800" dirty="0">
                <a:solidFill>
                  <a:schemeClr val="bg1"/>
                </a:solidFill>
              </a:rPr>
              <a:t>: </a:t>
            </a:r>
            <a:r>
              <a:rPr lang="ru-RU" sz="3800" i="1" dirty="0"/>
              <a:t>дигитални портмонета, които съхраняват информация за плащане. PayPal, Skrill, и ePay са примери за електронни портфейли, които позволяват на потребителите да съхраняват пари и да извършват плащания онлайн.</a:t>
            </a:r>
          </a:p>
          <a:p>
            <a:r>
              <a:rPr lang="ru-RU" sz="3800" b="1" dirty="0">
                <a:solidFill>
                  <a:schemeClr val="bg1"/>
                </a:solidFill>
              </a:rPr>
              <a:t>Банкови преводи</a:t>
            </a:r>
            <a:r>
              <a:rPr lang="ru-RU" sz="3800" dirty="0">
                <a:solidFill>
                  <a:schemeClr val="bg1"/>
                </a:solidFill>
              </a:rPr>
              <a:t>: </a:t>
            </a:r>
            <a:r>
              <a:rPr lang="ru-RU" sz="3800" i="1" dirty="0"/>
              <a:t>Директен превод на средства от банковата сметка на купувача в банковата сметка на продавача.</a:t>
            </a:r>
          </a:p>
          <a:p>
            <a:r>
              <a:rPr lang="ru-RU" sz="3800" b="1" dirty="0">
                <a:solidFill>
                  <a:schemeClr val="bg1"/>
                </a:solidFill>
              </a:rPr>
              <a:t>Мобилни плащания</a:t>
            </a:r>
            <a:r>
              <a:rPr lang="ru-RU" sz="3800" dirty="0">
                <a:solidFill>
                  <a:schemeClr val="bg1"/>
                </a:solidFill>
              </a:rPr>
              <a:t>: </a:t>
            </a:r>
            <a:r>
              <a:rPr lang="ru-RU" sz="3800" i="1" dirty="0"/>
              <a:t>плащания, извършвани чрез смартфони или други мобилни устройства.</a:t>
            </a:r>
          </a:p>
          <a:p>
            <a:pPr marL="0" indent="0">
              <a:buNone/>
            </a:pPr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36500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3946" y="1112324"/>
            <a:ext cx="8979010" cy="461055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7400" b="1" dirty="0" smtClean="0">
                <a:solidFill>
                  <a:schemeClr val="bg1"/>
                </a:solidFill>
              </a:rPr>
              <a:t>В</a:t>
            </a:r>
            <a:r>
              <a:rPr lang="ru-RU" sz="9600" b="1" dirty="0" smtClean="0">
                <a:solidFill>
                  <a:schemeClr val="bg1"/>
                </a:solidFill>
              </a:rPr>
              <a:t>) Предимства и недостатъци на </a:t>
            </a:r>
            <a:r>
              <a:rPr lang="ru-RU" sz="9600" b="1" dirty="0">
                <a:solidFill>
                  <a:schemeClr val="bg1"/>
                </a:solidFill>
              </a:rPr>
              <a:t>електронната търговия и електронните разплащания</a:t>
            </a:r>
            <a:r>
              <a:rPr lang="ru-RU" sz="9600" b="1" dirty="0" smtClean="0">
                <a:solidFill>
                  <a:schemeClr val="bg1"/>
                </a:solidFill>
              </a:rPr>
              <a:t>:</a:t>
            </a:r>
          </a:p>
          <a:p>
            <a:pPr>
              <a:buFontTx/>
              <a:buChar char="-"/>
            </a:pPr>
            <a:r>
              <a:rPr lang="ru-RU" sz="9600" b="1" dirty="0" smtClean="0"/>
              <a:t>Предимства: </a:t>
            </a:r>
          </a:p>
          <a:p>
            <a:r>
              <a:rPr lang="ru-RU" sz="9600" b="1" dirty="0"/>
              <a:t>Удобство</a:t>
            </a:r>
            <a:r>
              <a:rPr lang="ru-RU" sz="9600" i="1" dirty="0"/>
              <a:t>: 24/7 достъп до стоки и услуги отвсякъде по света.</a:t>
            </a:r>
          </a:p>
          <a:p>
            <a:r>
              <a:rPr lang="ru-RU" sz="9600" b="1" dirty="0"/>
              <a:t>Избор:</a:t>
            </a:r>
            <a:r>
              <a:rPr lang="ru-RU" sz="9600" i="1" dirty="0"/>
              <a:t> по-голям избор на продукти и услуги, сравнени с традиционните магазини.</a:t>
            </a:r>
          </a:p>
          <a:p>
            <a:r>
              <a:rPr lang="ru-RU" sz="9600" b="1" dirty="0"/>
              <a:t>Цена:</a:t>
            </a:r>
            <a:r>
              <a:rPr lang="ru-RU" sz="9600" i="1" dirty="0"/>
              <a:t> често по-ниски цени, поради по-ниските разходи за търговците.</a:t>
            </a:r>
          </a:p>
          <a:p>
            <a:r>
              <a:rPr lang="ru-RU" sz="9600" b="1" dirty="0"/>
              <a:t>Бързина: </a:t>
            </a:r>
            <a:r>
              <a:rPr lang="ru-RU" sz="9600" i="1" dirty="0"/>
              <a:t>по-бърз процес на покупка и доставка.</a:t>
            </a:r>
          </a:p>
          <a:p>
            <a:r>
              <a:rPr lang="ru-RU" sz="9600" b="1" dirty="0"/>
              <a:t>Ефективност: </a:t>
            </a:r>
            <a:r>
              <a:rPr lang="ru-RU" sz="9600" i="1" dirty="0"/>
              <a:t>по-ефективно управление на поръчките и плащанията.</a:t>
            </a:r>
          </a:p>
          <a:p>
            <a:pPr marL="0" indent="0">
              <a:buNone/>
            </a:pPr>
            <a:r>
              <a:rPr lang="ru-RU" sz="9600" i="1" dirty="0"/>
              <a:t> </a:t>
            </a:r>
          </a:p>
          <a:p>
            <a:pPr>
              <a:buFontTx/>
              <a:buChar char="-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88734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bg-BG" sz="2400" b="1" dirty="0" smtClean="0"/>
              <a:t>Недостатъци</a:t>
            </a:r>
            <a:r>
              <a:rPr lang="bg-BG" sz="2400" dirty="0" smtClean="0"/>
              <a:t>:</a:t>
            </a:r>
          </a:p>
          <a:p>
            <a:r>
              <a:rPr lang="ru-RU" sz="2400" b="1" dirty="0" smtClean="0"/>
              <a:t>Сигурност:</a:t>
            </a:r>
            <a:r>
              <a:rPr lang="ru-RU" sz="2400" dirty="0" smtClean="0"/>
              <a:t> </a:t>
            </a:r>
            <a:r>
              <a:rPr lang="ru-RU" sz="2400" i="1" dirty="0" smtClean="0"/>
              <a:t>риск </a:t>
            </a:r>
            <a:r>
              <a:rPr lang="ru-RU" sz="2400" i="1" dirty="0"/>
              <a:t>от измама и злоупотреба с лични данни</a:t>
            </a:r>
            <a:r>
              <a:rPr lang="ru-RU" sz="2400" i="1" dirty="0" smtClean="0"/>
              <a:t>.</a:t>
            </a:r>
            <a:endParaRPr lang="ru-RU" sz="2400" i="1" dirty="0"/>
          </a:p>
          <a:p>
            <a:r>
              <a:rPr lang="ru-RU" sz="2400" b="1" dirty="0"/>
              <a:t>Доверие: </a:t>
            </a:r>
            <a:r>
              <a:rPr lang="ru-RU" sz="2400" i="1" dirty="0"/>
              <a:t>липса на физически контакт между купувача и продавача.</a:t>
            </a:r>
          </a:p>
          <a:p>
            <a:r>
              <a:rPr lang="ru-RU" sz="2400" b="1" dirty="0"/>
              <a:t>Доставка:</a:t>
            </a:r>
            <a:r>
              <a:rPr lang="ru-RU" sz="2400" dirty="0"/>
              <a:t> </a:t>
            </a:r>
            <a:r>
              <a:rPr lang="ru-RU" sz="2400" i="1" dirty="0"/>
              <a:t>риск от забавяне или повреда на стоките.</a:t>
            </a:r>
          </a:p>
          <a:p>
            <a:r>
              <a:rPr lang="ru-RU" sz="2400" b="1" dirty="0"/>
              <a:t>Технологични проблеми:</a:t>
            </a:r>
            <a:r>
              <a:rPr lang="ru-RU" sz="2400" dirty="0"/>
              <a:t> </a:t>
            </a:r>
            <a:r>
              <a:rPr lang="ru-RU" sz="2400" i="1" dirty="0"/>
              <a:t>проблеми с интернет връзката или софтуера.</a:t>
            </a:r>
          </a:p>
          <a:p>
            <a:pPr>
              <a:buFontTx/>
              <a:buChar char="-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912900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137</TotalTime>
  <Words>147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Информация и услуги за гражданите в интернет. Електронна търговия и електронни разплащания</vt:lpstr>
      <vt:lpstr>1. Информация и услуги за гражданите в интернет</vt:lpstr>
      <vt:lpstr>PowerPoint Presentation</vt:lpstr>
      <vt:lpstr>PowerPoint Presentation</vt:lpstr>
      <vt:lpstr>2. Електронна търговия и електронни разплащания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и услуги за гражданите в интернет. Електронна търговия и електронни разплащания</dc:title>
  <dc:creator>Administrator</dc:creator>
  <cp:lastModifiedBy>Administrator</cp:lastModifiedBy>
  <cp:revision>42</cp:revision>
  <dcterms:created xsi:type="dcterms:W3CDTF">2026-01-05T06:46:51Z</dcterms:created>
  <dcterms:modified xsi:type="dcterms:W3CDTF">2026-01-08T07:36:50Z</dcterms:modified>
</cp:coreProperties>
</file>