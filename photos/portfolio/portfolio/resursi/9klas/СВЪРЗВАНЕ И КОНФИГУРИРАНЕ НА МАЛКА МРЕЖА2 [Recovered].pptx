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60" r:id="rId5"/>
    <p:sldId id="259" r:id="rId6"/>
    <p:sldId id="267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2" d="100"/>
          <a:sy n="72" d="100"/>
        </p:scale>
        <p:origin x="-114" y="-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72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1165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14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665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717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751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0546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9483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55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7566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69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49DE7EC-FE2E-48F1-A934-5FF629134F55}" type="datetimeFigureOut">
              <a:rPr lang="bg-BG" smtClean="0"/>
              <a:t>9.6.2026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4FC99A7-4709-48F8-B880-7C8B6B0372F5}" type="slidenum">
              <a:rPr lang="bg-BG" smtClean="0"/>
              <a:t>‹#›</a:t>
            </a:fld>
            <a:endParaRPr lang="bg-BG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9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СВЪРЗВАНЕ И КОНФИГУРИРАНЕ НА МАЛКА МРЕЖА</a:t>
            </a:r>
            <a:endParaRPr lang="bg-BG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bg-BG" sz="4000" dirty="0" smtClean="0"/>
              <a:t>9 клас</a:t>
            </a:r>
            <a:endParaRPr lang="bg-BG" sz="4000" dirty="0"/>
          </a:p>
        </p:txBody>
      </p:sp>
    </p:spTree>
    <p:extLst>
      <p:ext uri="{BB962C8B-B14F-4D97-AF65-F5344CB8AC3E}">
        <p14:creationId xmlns:p14="http://schemas.microsoft.com/office/powerpoint/2010/main" val="39127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1. Протоколи в интернет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Системата от правила, които определя как се извършва обмен на информация между компютри или устройства, свързани в мрежа, се нарича мрежов протокол.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3159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 smtClean="0"/>
              <a:t>2. Видове протоколи</a:t>
            </a:r>
            <a:endParaRPr lang="bg-B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14939"/>
            <a:ext cx="9720073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800" dirty="0" smtClean="0"/>
              <a:t>- </a:t>
            </a:r>
            <a:r>
              <a:rPr lang="en-US" sz="2800" b="1" dirty="0" smtClean="0"/>
              <a:t>HTTP </a:t>
            </a:r>
            <a:r>
              <a:rPr lang="en-US" sz="2800" b="1" dirty="0"/>
              <a:t>(Hypertext Transfer Protocol)</a:t>
            </a:r>
            <a:r>
              <a:rPr lang="en-US" sz="2800" dirty="0"/>
              <a:t> </a:t>
            </a:r>
            <a:r>
              <a:rPr lang="bg-BG" sz="2800" dirty="0"/>
              <a:t>управлява обмена на </a:t>
            </a:r>
            <a:r>
              <a:rPr lang="bg-BG" sz="2800" dirty="0" smtClean="0"/>
              <a:t>хи</a:t>
            </a:r>
          </a:p>
          <a:p>
            <a:pPr marL="0" indent="0">
              <a:buNone/>
            </a:pPr>
            <a:r>
              <a:rPr lang="bg-BG" sz="2800" dirty="0" smtClean="0"/>
              <a:t>пертекстове </a:t>
            </a:r>
            <a:r>
              <a:rPr lang="bg-BG" sz="2800" dirty="0"/>
              <a:t>(</a:t>
            </a:r>
            <a:r>
              <a:rPr lang="en-US" sz="2800" dirty="0"/>
              <a:t>WWW). </a:t>
            </a:r>
            <a:endParaRPr lang="bg-BG" sz="2800" dirty="0" smtClean="0"/>
          </a:p>
          <a:p>
            <a:pPr marL="0" indent="0">
              <a:buNone/>
            </a:pPr>
            <a:r>
              <a:rPr lang="bg-BG" sz="2800" dirty="0" smtClean="0"/>
              <a:t>- </a:t>
            </a:r>
            <a:r>
              <a:rPr lang="en-US" sz="2800" b="1" dirty="0" smtClean="0"/>
              <a:t>FTP </a:t>
            </a:r>
            <a:r>
              <a:rPr lang="en-US" sz="2800" b="1" dirty="0"/>
              <a:t>(Fail Transfer Protocol) </a:t>
            </a:r>
            <a:r>
              <a:rPr lang="bg-BG" sz="2800" dirty="0"/>
              <a:t>осъществява пренос (трансфер) на </a:t>
            </a:r>
            <a:r>
              <a:rPr lang="bg-BG" sz="2800" dirty="0" smtClean="0"/>
              <a:t>файлове</a:t>
            </a:r>
          </a:p>
          <a:p>
            <a:pPr marL="0" indent="0" fontAlgn="base">
              <a:buNone/>
            </a:pPr>
            <a:r>
              <a:rPr lang="bg-BG" sz="2800" dirty="0" smtClean="0"/>
              <a:t>- </a:t>
            </a:r>
            <a:r>
              <a:rPr lang="en-US" sz="2800" b="1" dirty="0" smtClean="0"/>
              <a:t>SMTP</a:t>
            </a:r>
            <a:r>
              <a:rPr lang="en-US" sz="2800" dirty="0" smtClean="0"/>
              <a:t> </a:t>
            </a:r>
            <a:r>
              <a:rPr lang="en-US" sz="2800" dirty="0"/>
              <a:t>(Simple Mail Transfer Protocol) </a:t>
            </a:r>
            <a:r>
              <a:rPr lang="bg-BG" sz="2800" dirty="0"/>
              <a:t>осъществява обмена на съобщения, снимки, текстови документи. Той се използва за електронна поща.</a:t>
            </a:r>
          </a:p>
          <a:p>
            <a:pPr marL="0" indent="0" fontAlgn="base">
              <a:buNone/>
            </a:pPr>
            <a:r>
              <a:rPr lang="bg-BG" sz="2800" dirty="0" smtClean="0"/>
              <a:t>- </a:t>
            </a:r>
            <a:r>
              <a:rPr lang="en-US" sz="2800" b="1" dirty="0" smtClean="0"/>
              <a:t>POP3 </a:t>
            </a:r>
            <a:r>
              <a:rPr lang="en-US" sz="2800" dirty="0"/>
              <a:t>(Post Office Protocol </a:t>
            </a:r>
            <a:r>
              <a:rPr lang="bg-BG" sz="2800" dirty="0" smtClean="0"/>
              <a:t>използва се </a:t>
            </a:r>
            <a:r>
              <a:rPr lang="bg-BG" sz="2800" dirty="0"/>
              <a:t>за електронна </a:t>
            </a:r>
            <a:r>
              <a:rPr lang="bg-BG" sz="2800" dirty="0" smtClean="0"/>
              <a:t>поща</a:t>
            </a:r>
            <a:endParaRPr lang="bg-BG" sz="2800" dirty="0"/>
          </a:p>
          <a:p>
            <a:pPr marL="0" indent="0">
              <a:buNone/>
            </a:pPr>
            <a:r>
              <a:rPr lang="ru-RU" sz="2800" b="1" dirty="0" smtClean="0"/>
              <a:t>- IRC </a:t>
            </a:r>
            <a:r>
              <a:rPr lang="ru-RU" sz="2800" dirty="0"/>
              <a:t>(Internet Relay Chat) се използва за разговори в реално време.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50364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sz="2800" dirty="0" smtClean="0"/>
              <a:t>Протоколите нужни за работа в глобалната мрежа интернет са обединени в един пакет, наречен TCP/IP. Името му идва от два от най-използваните протоколи TCP и IP.</a:t>
            </a:r>
          </a:p>
          <a:p>
            <a:pPr marL="0" indent="0" fontAlgn="base">
              <a:buNone/>
            </a:pPr>
            <a:r>
              <a:rPr lang="ru-RU" sz="2800" dirty="0" smtClean="0"/>
              <a:t>   -</a:t>
            </a:r>
            <a:r>
              <a:rPr lang="ru-RU" sz="2800" dirty="0"/>
              <a:t>TCP (Transmission Control Protocol) – Протокол за обмена на информация.</a:t>
            </a:r>
          </a:p>
          <a:p>
            <a:pPr marL="0" indent="0" fontAlgn="base">
              <a:buNone/>
            </a:pPr>
            <a:r>
              <a:rPr lang="ru-RU" sz="2800" dirty="0" smtClean="0"/>
              <a:t>   -</a:t>
            </a:r>
            <a:r>
              <a:rPr lang="ru-RU" sz="2800" dirty="0"/>
              <a:t>IP (Internet Protocol) – Позволява адресиране на информацията, която се изпраща по мрежата.</a:t>
            </a:r>
          </a:p>
          <a:p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72043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3</a:t>
            </a:r>
            <a:r>
              <a:rPr lang="bg-BG" dirty="0" smtClean="0"/>
              <a:t>.</a:t>
            </a:r>
            <a:r>
              <a:rPr lang="en-US" dirty="0" smtClean="0"/>
              <a:t> </a:t>
            </a:r>
            <a:r>
              <a:rPr lang="en-US" dirty="0"/>
              <a:t>IP </a:t>
            </a:r>
            <a:r>
              <a:rPr lang="bg-BG" dirty="0"/>
              <a:t>адрес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 smtClean="0"/>
              <a:t>А) Същност - IP </a:t>
            </a:r>
            <a:r>
              <a:rPr lang="ru-RU" sz="2800" b="1" dirty="0"/>
              <a:t>адресът (Internet Protocol адрес)</a:t>
            </a:r>
            <a:r>
              <a:rPr lang="ru-RU" sz="2800" dirty="0"/>
              <a:t> </a:t>
            </a:r>
            <a:r>
              <a:rPr lang="ru-RU" sz="2800" b="1" dirty="0"/>
              <a:t>е уникална идентификация на устройство в мрежа, която се използва за комуникация между различни устройства. </a:t>
            </a:r>
            <a:r>
              <a:rPr lang="ru-RU" sz="2800" dirty="0"/>
              <a:t>IP адресите могат да </a:t>
            </a:r>
            <a:r>
              <a:rPr lang="ru-RU" sz="2800" dirty="0" smtClean="0"/>
              <a:t>бъдат</a:t>
            </a:r>
            <a:r>
              <a:rPr lang="en-US" sz="2800" dirty="0" smtClean="0"/>
              <a:t>:</a:t>
            </a:r>
          </a:p>
          <a:p>
            <a:pPr>
              <a:buFontTx/>
              <a:buChar char="-"/>
            </a:pPr>
            <a:r>
              <a:rPr lang="ru-RU" sz="2800" dirty="0"/>
              <a:t> </a:t>
            </a:r>
            <a:r>
              <a:rPr lang="ru-RU" sz="2800" b="1" dirty="0" smtClean="0"/>
              <a:t>IPv4</a:t>
            </a:r>
            <a:r>
              <a:rPr lang="en-US" sz="2800" dirty="0"/>
              <a:t> </a:t>
            </a:r>
            <a:r>
              <a:rPr lang="en-US" sz="2800" dirty="0" smtClean="0"/>
              <a:t>-</a:t>
            </a:r>
            <a:r>
              <a:rPr lang="ru-RU" sz="2800" dirty="0" smtClean="0"/>
              <a:t> </a:t>
            </a:r>
            <a:r>
              <a:rPr lang="ru-RU" sz="2800" b="1" dirty="0"/>
              <a:t>четири цифри отделени с точки, </a:t>
            </a:r>
            <a:r>
              <a:rPr lang="ru-RU" sz="2800" b="1" dirty="0" smtClean="0"/>
              <a:t>всяка </a:t>
            </a:r>
            <a:r>
              <a:rPr lang="ru-RU" sz="2800" b="1" dirty="0"/>
              <a:t>от които е между 0 и </a:t>
            </a:r>
            <a:r>
              <a:rPr lang="ru-RU" sz="2800" b="1" dirty="0" smtClean="0"/>
              <a:t>255.Пример </a:t>
            </a:r>
            <a:r>
              <a:rPr lang="ru-RU" sz="2800" b="1" dirty="0"/>
              <a:t>за IP адрес: 192.168.1.100</a:t>
            </a:r>
            <a:r>
              <a:rPr lang="ru-RU" sz="2800" b="1" dirty="0" smtClean="0"/>
              <a:t>.</a:t>
            </a:r>
            <a:endParaRPr lang="en-US" sz="2800" b="1" dirty="0" smtClean="0"/>
          </a:p>
          <a:p>
            <a:pPr>
              <a:buFontTx/>
              <a:buChar char="-"/>
            </a:pPr>
            <a:r>
              <a:rPr lang="ru-RU" sz="2800" dirty="0" smtClean="0"/>
              <a:t> </a:t>
            </a:r>
            <a:r>
              <a:rPr lang="ru-RU" sz="2800" dirty="0"/>
              <a:t>Вече съществува и </a:t>
            </a:r>
            <a:r>
              <a:rPr lang="ru-RU" sz="2800" b="1" dirty="0"/>
              <a:t>IPv6</a:t>
            </a:r>
            <a:r>
              <a:rPr lang="ru-RU" sz="2800" dirty="0"/>
              <a:t>, който е по-нов и </a:t>
            </a:r>
            <a:r>
              <a:rPr lang="ru-RU" sz="2800" b="1" dirty="0"/>
              <a:t>включва шестнадесетични цифри и букви</a:t>
            </a:r>
            <a:r>
              <a:rPr lang="ru-RU" sz="2800" dirty="0"/>
              <a:t>. IP адресът се присвоява на всяко устройство, свързано с мрежа, базирана на Internet Protocol (IP).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51643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061" y="2004646"/>
            <a:ext cx="9720073" cy="4023360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 smtClean="0"/>
              <a:t>Б) Функции </a:t>
            </a:r>
            <a:r>
              <a:rPr lang="ru-RU" sz="2800" b="1" dirty="0"/>
              <a:t>на IP адреса:</a:t>
            </a:r>
          </a:p>
          <a:p>
            <a:pPr marL="0" indent="0">
              <a:buNone/>
            </a:pPr>
            <a:r>
              <a:rPr lang="ru-RU" sz="2800" b="1" dirty="0" smtClean="0"/>
              <a:t>- Идентификация</a:t>
            </a:r>
            <a:r>
              <a:rPr lang="ru-RU" sz="2800" dirty="0"/>
              <a:t>: IP адресът се използва за идентификация на устройството в мрежата.</a:t>
            </a:r>
          </a:p>
          <a:p>
            <a:pPr marL="0" indent="0">
              <a:buNone/>
            </a:pPr>
            <a:r>
              <a:rPr lang="ru-RU" sz="2800" b="1" dirty="0" smtClean="0"/>
              <a:t>- Локализация</a:t>
            </a:r>
            <a:r>
              <a:rPr lang="ru-RU" sz="2800" dirty="0"/>
              <a:t>: IP адресът се използва за определяне на местоположението на устройството в мрежата.</a:t>
            </a:r>
          </a:p>
          <a:p>
            <a:pPr marL="0" indent="0">
              <a:buNone/>
            </a:pPr>
            <a:r>
              <a:rPr lang="ru-RU" sz="2800" b="1" dirty="0" smtClean="0"/>
              <a:t>- Маршрутизация</a:t>
            </a:r>
            <a:r>
              <a:rPr lang="ru-RU" sz="2800" dirty="0"/>
              <a:t>: IP адресът се използва за маршрутизиране на трафика до правилното устройство.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8664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smtClean="0"/>
              <a:t>4. </a:t>
            </a:r>
            <a:r>
              <a:rPr lang="ru-RU" sz="4000" b="1" dirty="0"/>
              <a:t>Адресна маска </a:t>
            </a:r>
            <a:r>
              <a:rPr lang="ru-RU" sz="4000" dirty="0"/>
              <a:t>(Например 255.255.255.0)</a:t>
            </a:r>
            <a:endParaRPr lang="bg-B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Това е параметър указващ максималния брой IP адреси, които могат да съществуват във вашата локална мрежа. Компютрите, които са в една мрежа, имат една и съща маска.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30714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5. IP адрес на шлюза (вратата, gateway) към интернет. </a:t>
            </a:r>
            <a:endParaRPr lang="bg-BG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Това е адресът на устройството, което пренася данните от локалната мрежа в интернет и обратно. Това устройство може да е маршрутизатор (router). Неговият адрес е адрес на шлюза.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0807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/>
              <a:t>6. Домейни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/>
              <a:t>IP адресите се запомнят трудно поради наличието на много числа в тях. Затова в интернет те се заменят с адресни имена – </a:t>
            </a:r>
            <a:r>
              <a:rPr lang="ru-RU" b="1" dirty="0"/>
              <a:t>домейни (domin – област)</a:t>
            </a:r>
            <a:r>
              <a:rPr lang="ru-RU" dirty="0"/>
              <a:t>. Всеки домейн има собствено уникално име, на което съответства IP адрес. Имената на домейните се образуват от отделни думи, изписани най-често на латиница, без интервал между знаците, разделени с точка (напр. mon.bg). Всяка част от името между две точки е свързана с определена мрежа. Колкото по-надясно в името е съответната дума, толкова по-високо ниво е мрежата.</a:t>
            </a:r>
          </a:p>
          <a:p>
            <a:pPr fontAlgn="base"/>
            <a:r>
              <a:rPr lang="ru-RU" dirty="0"/>
              <a:t>Съответствието на IP адрес и домейн е записано на специални сървъри, наричани DNS (Domain Name Servers) сървъри.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5490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363" y="1530626"/>
            <a:ext cx="9720073" cy="4023360"/>
          </a:xfrm>
        </p:spPr>
        <p:txBody>
          <a:bodyPr>
            <a:normAutofit lnSpcReduction="10000"/>
          </a:bodyPr>
          <a:lstStyle/>
          <a:p>
            <a:pPr fontAlgn="base"/>
            <a:r>
              <a:rPr lang="ru-RU" sz="2800" dirty="0"/>
              <a:t>Към домейните от първо ниво (top-level domains) се отнасят: com – търговски организации, edu – образователни институции, net – мрежови организации, org – нетърговски организации, и др. Домейните от държавно ниво са двубуквени и показват името на държавата, която управлява домейна – например; bg – България, uk – Великобритания, и т. н.</a:t>
            </a:r>
          </a:p>
          <a:p>
            <a:pPr fontAlgn="base"/>
            <a:r>
              <a:rPr lang="ru-RU" sz="2800" dirty="0"/>
              <a:t>На трето ниво са поддомейните на домейните от второ ниво. Те се администрират от собствениците на главните домейни (напр. </a:t>
            </a:r>
            <a:r>
              <a:rPr lang="ru-RU" sz="2800" b="1" dirty="0"/>
              <a:t>bg</a:t>
            </a:r>
            <a:r>
              <a:rPr lang="ru-RU" sz="2800" dirty="0"/>
              <a:t>.wikipedia.org).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0506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7. </a:t>
            </a:r>
            <a:r>
              <a:rPr lang="ru-RU" sz="4400" b="1" dirty="0" smtClean="0"/>
              <a:t>Зареждането </a:t>
            </a:r>
            <a:r>
              <a:rPr lang="ru-RU" sz="4400" b="1" dirty="0"/>
              <a:t>на уеб сайт се извършва в следната последователност:</a:t>
            </a:r>
            <a:endParaRPr lang="bg-BG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bg-BG" sz="2800" dirty="0" smtClean="0"/>
              <a:t>въвежда се името на сайта в адресното поле на уеб браузъра;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bg-BG" sz="2800" dirty="0" smtClean="0"/>
              <a:t>уеб </a:t>
            </a:r>
            <a:r>
              <a:rPr lang="bg-BG" sz="2800" dirty="0"/>
              <a:t>браузърът изпраща заявка към </a:t>
            </a:r>
            <a:r>
              <a:rPr lang="en-US" sz="2800" dirty="0"/>
              <a:t>DNS </a:t>
            </a:r>
            <a:r>
              <a:rPr lang="bg-BG" sz="2800" dirty="0"/>
              <a:t>сървъра;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800" dirty="0"/>
              <a:t>DNS </a:t>
            </a:r>
            <a:r>
              <a:rPr lang="bg-BG" sz="2800" dirty="0"/>
              <a:t>сървърът преобразува </a:t>
            </a:r>
            <a:r>
              <a:rPr lang="en-US" sz="2800" dirty="0"/>
              <a:t>URL </a:t>
            </a:r>
            <a:r>
              <a:rPr lang="bg-BG" sz="2800" dirty="0"/>
              <a:t>адреса на сайта в </a:t>
            </a:r>
            <a:r>
              <a:rPr lang="en-US" sz="2800" dirty="0"/>
              <a:t>IP </a:t>
            </a:r>
            <a:r>
              <a:rPr lang="bg-BG" sz="2800" dirty="0"/>
              <a:t>адрес на сървъра.</a:t>
            </a:r>
          </a:p>
          <a:p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034458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71</TotalTime>
  <Words>384</Words>
  <Application>Microsoft Office PowerPoint</Application>
  <PresentationFormat>По избор</PresentationFormat>
  <Paragraphs>35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2" baseType="lpstr">
      <vt:lpstr>Integral</vt:lpstr>
      <vt:lpstr>СВЪРЗВАНЕ И КОНФИГУРИРАНЕ НА МАЛКА МРЕЖА</vt:lpstr>
      <vt:lpstr>1. Протоколи в интернет</vt:lpstr>
      <vt:lpstr>2. Видове протоколи</vt:lpstr>
      <vt:lpstr>Презентация на PowerPoint</vt:lpstr>
      <vt:lpstr>3. IP адрес</vt:lpstr>
      <vt:lpstr>Презентация на PowerPoint</vt:lpstr>
      <vt:lpstr>4. Адресна маска (Например 255.255.255.0)</vt:lpstr>
      <vt:lpstr>5. IP адрес на шлюза (вратата, gateway) към интернет. </vt:lpstr>
      <vt:lpstr>6. Домейни</vt:lpstr>
      <vt:lpstr>Презентация на PowerPoint</vt:lpstr>
      <vt:lpstr>7. Зареждането на уеб сайт се извършва в следната последователност: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СВЪРЗВАНЕ И КОНФИГУРИРАНЕ НА МАЛКА МРЕЖА</dc:title>
  <dc:creator>Administrator</dc:creator>
  <cp:lastModifiedBy>su</cp:lastModifiedBy>
  <cp:revision>43</cp:revision>
  <dcterms:created xsi:type="dcterms:W3CDTF">2025-11-19T13:12:57Z</dcterms:created>
  <dcterms:modified xsi:type="dcterms:W3CDTF">2026-06-09T05:01:12Z</dcterms:modified>
</cp:coreProperties>
</file>